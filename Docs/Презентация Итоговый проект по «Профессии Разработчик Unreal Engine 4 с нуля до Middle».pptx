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6b117e45e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6b117e45e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6b117e45e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6b117e45e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6b856432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6b856432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6b856432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6b856432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6b117e45e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f6b117e45e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6b117e45e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6b117e45e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6b856432a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6b856432a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alikxyzet@gmail.com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forums.unrealengine.com/t/missing-unrealbuildtool-exe-after-build/2674046/12" TargetMode="External"/><Relationship Id="rId4" Type="http://schemas.openxmlformats.org/officeDocument/2006/relationships/hyperlink" Target="https://issues.unrealengine.com/issue/UE-81109" TargetMode="External"/><Relationship Id="rId5" Type="http://schemas.openxmlformats.org/officeDocument/2006/relationships/hyperlink" Target="https://issues.unrealengine.com/issue/UE-145345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mailto:alikxyzet@gmail.com" TargetMode="External"/><Relationship Id="rId4" Type="http://schemas.openxmlformats.org/officeDocument/2006/relationships/hyperlink" Target="https://github.com/AlikXYZet/FP_RTS" TargetMode="External"/><Relationship Id="rId5" Type="http://schemas.openxmlformats.org/officeDocument/2006/relationships/hyperlink" Target="https://gitlab.com/alikxyzet/FP_RTS" TargetMode="External"/><Relationship Id="rId6" Type="http://schemas.openxmlformats.org/officeDocument/2006/relationships/hyperlink" Target="https://gitverse.ru/Alik_XYZet/FP_RTS" TargetMode="External"/><Relationship Id="rId7" Type="http://schemas.openxmlformats.org/officeDocument/2006/relationships/hyperlink" Target="https://disk.yandex.by/d/-fm75T3rE73cJA" TargetMode="External"/><Relationship Id="rId8" Type="http://schemas.openxmlformats.org/officeDocument/2006/relationships/hyperlink" Target="https://drive.google.com/drive/folders/1iKprTmhUcY5xjn1mxJckriaoNsjlwfky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000"/>
              <a:t>Итоговый проект по</a:t>
            </a:r>
            <a:br>
              <a:rPr lang="ru" sz="3000"/>
            </a:br>
            <a:r>
              <a:rPr lang="ru" sz="3000"/>
              <a:t>«Профессии Разработчик Unreal Engine 4</a:t>
            </a:r>
            <a:br>
              <a:rPr lang="ru" sz="3000"/>
            </a:br>
            <a:r>
              <a:rPr lang="ru" sz="3000"/>
              <a:t>с нуля до Middle»</a:t>
            </a:r>
            <a:endParaRPr sz="30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Тема: «Разработка прототипа RTS»</a:t>
            </a:r>
            <a:endParaRPr/>
          </a:p>
        </p:txBody>
      </p:sp>
      <p:sp>
        <p:nvSpPr>
          <p:cNvPr id="56" name="Google Shape;56;p13"/>
          <p:cNvSpPr txBox="1"/>
          <p:nvPr>
            <p:ph idx="4294967295" type="body"/>
          </p:nvPr>
        </p:nvSpPr>
        <p:spPr>
          <a:xfrm>
            <a:off x="311700" y="3626725"/>
            <a:ext cx="8520600" cy="12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Проект выполнил:</a:t>
            </a:r>
            <a:br>
              <a:rPr lang="ru"/>
            </a:br>
            <a:r>
              <a:rPr lang="ru"/>
              <a:t>Осипов А.С.</a:t>
            </a:r>
            <a:br>
              <a:rPr lang="ru"/>
            </a:br>
            <a:r>
              <a:rPr lang="ru" u="sng">
                <a:solidFill>
                  <a:schemeClr val="hlink"/>
                </a:solidFill>
                <a:hlinkClick r:id="rId3"/>
              </a:rPr>
              <a:t>alikxyzet@gmail.com</a:t>
            </a:r>
            <a:r>
              <a:rPr lang="ru"/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проекта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Основные: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П</a:t>
            </a:r>
            <a:r>
              <a:rPr lang="ru"/>
              <a:t>рименение комбинации освоенных навыков для построения прототипа стратегии реального времени с заложенной возможностью развития проекта;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Углубление и закрепление знаний по использованию механик, плагинов и инструментов “Unreal Engine”</a:t>
            </a:r>
            <a:br>
              <a:rPr lang="ru"/>
            </a:br>
            <a:r>
              <a:rPr lang="ru"/>
              <a:t>(далее UE);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Оценка знаний и возможностей.</a:t>
            </a:r>
            <a:endParaRPr/>
          </a:p>
        </p:txBody>
      </p:sp>
      <p:sp>
        <p:nvSpPr>
          <p:cNvPr id="63" name="Google Shape;63;p1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Дополнительные: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Изучение возможностей использования спецификаторов свойств (</a:t>
            </a:r>
            <a:r>
              <a:rPr lang="ru">
                <a:solidFill>
                  <a:schemeClr val="accent4"/>
                </a:solidFill>
              </a:rPr>
              <a:t>UPROPERTY</a:t>
            </a:r>
            <a:r>
              <a:rPr lang="ru"/>
              <a:t>, </a:t>
            </a:r>
            <a:r>
              <a:rPr lang="ru">
                <a:solidFill>
                  <a:schemeClr val="accent4"/>
                </a:solidFill>
              </a:rPr>
              <a:t>UFUNCTION</a:t>
            </a:r>
            <a:r>
              <a:rPr lang="ru"/>
              <a:t>, </a:t>
            </a:r>
            <a:r>
              <a:rPr lang="ru">
                <a:solidFill>
                  <a:schemeClr val="accent4"/>
                </a:solidFill>
              </a:rPr>
              <a:t>UPARAM </a:t>
            </a:r>
            <a:r>
              <a:rPr lang="ru"/>
              <a:t>и т.д.) для создания более удобных условий работы в среде BluePrint (далее BP);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Создание своих утили (функции, макросы, плагины и т.д.) для последующего использования в других проектах;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Углубление знаний  о возможностях </a:t>
            </a:r>
            <a:r>
              <a:rPr lang="ru"/>
              <a:t>UE</a:t>
            </a:r>
            <a:r>
              <a:rPr lang="ru"/>
              <a:t>.</a:t>
            </a:r>
            <a:endParaRPr/>
          </a:p>
        </p:txBody>
      </p:sp>
      <p:cxnSp>
        <p:nvCxnSpPr>
          <p:cNvPr id="64" name="Google Shape;64;p14"/>
          <p:cNvCxnSpPr/>
          <p:nvPr/>
        </p:nvCxnSpPr>
        <p:spPr>
          <a:xfrm>
            <a:off x="4571999" y="1017723"/>
            <a:ext cx="0" cy="3551100"/>
          </a:xfrm>
          <a:prstGeom prst="straightConnector1">
            <a:avLst/>
          </a:prstGeom>
          <a:noFill/>
          <a:ln cap="flat" cmpd="sng" w="28575">
            <a:solidFill>
              <a:srgbClr val="ADADAD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Было создано согласно ТЗ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Г</a:t>
            </a:r>
            <a:r>
              <a:rPr lang="ru"/>
              <a:t>лавное меню с возможностью запустить игру или выйти из неё;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Одна игровая карта;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Игрок наблюдает игровую карту сверху, может перемещаться по ней с помощью отнесения курсора к одному из краёв экрана, а также посредством клавиш ‘WASD’;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Три различных типа юнитов (мечник, лучник, маг-лекарь);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Враждебные юниты </a:t>
            </a:r>
            <a:r>
              <a:rPr lang="ru"/>
              <a:t>распределены по карте и </a:t>
            </a:r>
            <a:r>
              <a:rPr lang="ru"/>
              <a:t>атакуют юнитов игрока, если те появились в определённом радиусе;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Дружественные юниты управляться кликами правой клавишей мыши на поверхности уровня для перемещения или на враждебном юните для атаки;</a:t>
            </a:r>
            <a:endParaRPr/>
          </a:p>
        </p:txBody>
      </p:sp>
      <p:sp>
        <p:nvSpPr>
          <p:cNvPr id="71" name="Google Shape;71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Д</a:t>
            </a:r>
            <a:r>
              <a:rPr lang="ru"/>
              <a:t>ля управления дружественные юниты выбираются поодиночке кликом левой клавишей мыши на дружественном юните или выбираться группой с помощью выделения рамкой;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Игра заканчивается победой, если уничтожены все враждебные юниты на карте;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Игра заканчивается поражением, если уничтожены все дружественные юниты на карте;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При завершении игры игроку показывается виджет с результатом сессии (победа или поражение), после клика по виджету игрок должен вернуться в главное меню</a:t>
            </a:r>
            <a:endParaRPr/>
          </a:p>
        </p:txBody>
      </p:sp>
      <p:cxnSp>
        <p:nvCxnSpPr>
          <p:cNvPr id="72" name="Google Shape;72;p15"/>
          <p:cNvCxnSpPr/>
          <p:nvPr/>
        </p:nvCxnSpPr>
        <p:spPr>
          <a:xfrm>
            <a:off x="4571999" y="1017723"/>
            <a:ext cx="0" cy="3551100"/>
          </a:xfrm>
          <a:prstGeom prst="straightConnector1">
            <a:avLst/>
          </a:prstGeom>
          <a:noFill/>
          <a:ln cap="flat" cmpd="sng" w="28575">
            <a:solidFill>
              <a:srgbClr val="ADADAD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Дальнейший потенциал развития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Расширение изобилия звуков с зависимостью от разных факторов, в том числе и от типа материала (был ограничен для избежания перегруженности прототипа);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Добавление доп. RTS-механик: “туман войны”, ограничение видимости игрока областью видимости персонажей, система накопления ресурсов и т.д.;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Добавление новых классов Юнитов (“дебафер”, “жрецы” для переманивания врага на свою сторону и т.д.);</a:t>
            </a:r>
            <a:endParaRPr/>
          </a:p>
        </p:txBody>
      </p:sp>
      <p:sp>
        <p:nvSpPr>
          <p:cNvPr id="79" name="Google Shape;79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Добавление новых возможностей взаимодействия Юнитов;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Добавление построек и их развитие;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Расширение карт-арен, в том числе и с авто. генерацией мира, для разнообразия игрового опыта;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Расширение типов интерактивных объектов: ловушек, бонусов, подбираемые предметы.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cxnSp>
        <p:nvCxnSpPr>
          <p:cNvPr id="80" name="Google Shape;80;p16"/>
          <p:cNvCxnSpPr/>
          <p:nvPr/>
        </p:nvCxnSpPr>
        <p:spPr>
          <a:xfrm>
            <a:off x="4571999" y="1017723"/>
            <a:ext cx="0" cy="3551100"/>
          </a:xfrm>
          <a:prstGeom prst="straightConnector1">
            <a:avLst/>
          </a:prstGeom>
          <a:noFill/>
          <a:ln cap="flat" cmpd="sng" w="28575">
            <a:solidFill>
              <a:srgbClr val="ADADAD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Трудности, возникшие в период разработки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520600" cy="36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 sz="1400"/>
              <a:t>Проблемы с кодом UE, которые были исправлены в более свежих версиях движка (зачастую в 5.4 и 5.6):</a:t>
            </a:r>
            <a:endParaRPr sz="1400"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ru" sz="1400">
                <a:solidFill>
                  <a:srgbClr val="00C800"/>
                </a:solidFill>
              </a:rPr>
              <a:t>UE</a:t>
            </a:r>
            <a:r>
              <a:rPr lang="ru" sz="1400"/>
              <a:t>: Сбой генерации проекта, </a:t>
            </a:r>
            <a:r>
              <a:rPr lang="ru" sz="14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решаемый через изменение файла движка</a:t>
            </a:r>
            <a:r>
              <a:rPr lang="ru" sz="1400"/>
              <a:t>; </a:t>
            </a:r>
            <a:endParaRPr sz="1400"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ru" sz="1400"/>
              <a:t>“</a:t>
            </a:r>
            <a:r>
              <a:rPr lang="ru" sz="1400">
                <a:solidFill>
                  <a:srgbClr val="00C800"/>
                </a:solidFill>
              </a:rPr>
              <a:t>Gameplay Ability System</a:t>
            </a:r>
            <a:r>
              <a:rPr lang="ru" sz="1400"/>
              <a:t>” (далее </a:t>
            </a:r>
            <a:r>
              <a:rPr lang="ru" sz="1400">
                <a:solidFill>
                  <a:srgbClr val="00C800"/>
                </a:solidFill>
              </a:rPr>
              <a:t>GAS</a:t>
            </a:r>
            <a:r>
              <a:rPr lang="ru" sz="1400"/>
              <a:t>): </a:t>
            </a:r>
            <a:r>
              <a:rPr lang="ru" sz="14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UE-81109</a:t>
            </a:r>
            <a:r>
              <a:rPr lang="ru" sz="1400"/>
              <a:t>, </a:t>
            </a:r>
            <a:r>
              <a:rPr lang="ru" sz="1400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UE-145345</a:t>
            </a:r>
            <a:r>
              <a:rPr lang="ru" sz="1400"/>
              <a:t> и др.;</a:t>
            </a:r>
            <a:endParaRPr sz="1400"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ru" sz="1400"/>
              <a:t>Плагин “</a:t>
            </a:r>
            <a:r>
              <a:rPr lang="ru" sz="1400">
                <a:solidFill>
                  <a:srgbClr val="00C800"/>
                </a:solidFill>
              </a:rPr>
              <a:t>Editor Scripting Utilities</a:t>
            </a:r>
            <a:r>
              <a:rPr lang="ru" sz="1400"/>
              <a:t>”: В среде BP нет всех возможных изменений Ассетов, зато есть в среде C++;</a:t>
            </a:r>
            <a:endParaRPr sz="1400"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ru" sz="1400"/>
              <a:t>Спецификаторы свойств (</a:t>
            </a:r>
            <a:r>
              <a:rPr lang="ru" sz="1400">
                <a:solidFill>
                  <a:schemeClr val="accent4"/>
                </a:solidFill>
              </a:rPr>
              <a:t>UPROPERTY</a:t>
            </a:r>
            <a:r>
              <a:rPr lang="ru" sz="1400"/>
              <a:t>, </a:t>
            </a:r>
            <a:r>
              <a:rPr lang="ru" sz="1400">
                <a:solidFill>
                  <a:schemeClr val="accent4"/>
                </a:solidFill>
              </a:rPr>
              <a:t>UFUNCTION</a:t>
            </a:r>
            <a:r>
              <a:rPr lang="ru" sz="1400"/>
              <a:t>, </a:t>
            </a:r>
            <a:r>
              <a:rPr lang="ru" sz="1400">
                <a:solidFill>
                  <a:schemeClr val="accent4"/>
                </a:solidFill>
              </a:rPr>
              <a:t>UPARAM </a:t>
            </a:r>
            <a:r>
              <a:rPr lang="ru" sz="1400"/>
              <a:t>и т.д.): Многие спецификаторы активируются только при явном присвоении текстового значения </a:t>
            </a:r>
            <a:r>
              <a:rPr lang="ru" sz="1400">
                <a:solidFill>
                  <a:srgbClr val="FF0000"/>
                </a:solidFill>
              </a:rPr>
              <a:t>"true"</a:t>
            </a:r>
            <a:r>
              <a:rPr lang="ru" sz="1400"/>
              <a:t> или </a:t>
            </a:r>
            <a:r>
              <a:rPr lang="ru" sz="1400">
                <a:solidFill>
                  <a:srgbClr val="FF0000"/>
                </a:solidFill>
              </a:rPr>
              <a:t>""</a:t>
            </a:r>
            <a:r>
              <a:rPr lang="ru" sz="1400"/>
              <a:t>. </a:t>
            </a:r>
            <a:br>
              <a:rPr lang="ru" sz="1400"/>
            </a:br>
            <a:r>
              <a:rPr lang="ru" sz="1400"/>
              <a:t>Например:</a:t>
            </a:r>
            <a:br>
              <a:rPr lang="ru" sz="1400"/>
            </a:br>
            <a:r>
              <a:rPr lang="ru" sz="1400"/>
              <a:t>- </a:t>
            </a:r>
            <a:r>
              <a:rPr lang="ru" sz="1400">
                <a:solidFill>
                  <a:schemeClr val="accent4"/>
                </a:solidFill>
              </a:rPr>
              <a:t>UPROPERTY</a:t>
            </a:r>
            <a:r>
              <a:rPr lang="ru" sz="1400"/>
              <a:t>(meta = (</a:t>
            </a:r>
            <a:r>
              <a:rPr lang="ru" sz="1400">
                <a:solidFill>
                  <a:schemeClr val="accent4"/>
                </a:solidFill>
              </a:rPr>
              <a:t>BlueprintBaseOnly</a:t>
            </a:r>
            <a:r>
              <a:rPr lang="ru" sz="1400"/>
              <a:t> = </a:t>
            </a:r>
            <a:r>
              <a:rPr lang="ru" sz="1400">
                <a:solidFill>
                  <a:srgbClr val="FF0000"/>
                </a:solidFill>
              </a:rPr>
              <a:t>""</a:t>
            </a:r>
            <a:r>
              <a:rPr lang="ru" sz="1400"/>
              <a:t>)) – для “</a:t>
            </a:r>
            <a:r>
              <a:rPr lang="ru" sz="1400">
                <a:solidFill>
                  <a:srgbClr val="00C800"/>
                </a:solidFill>
              </a:rPr>
              <a:t>TSubclassOf&lt;&gt;</a:t>
            </a:r>
            <a:r>
              <a:rPr lang="ru" sz="1400"/>
              <a:t>” и “</a:t>
            </a:r>
            <a:r>
              <a:rPr lang="ru" sz="1400">
                <a:solidFill>
                  <a:srgbClr val="00C800"/>
                </a:solidFill>
              </a:rPr>
              <a:t>TSoftClassPtr&lt;&gt;</a:t>
            </a:r>
            <a:r>
              <a:rPr lang="ru" sz="1400"/>
              <a:t>”;</a:t>
            </a:r>
            <a:br>
              <a:rPr lang="ru" sz="1400"/>
            </a:br>
            <a:r>
              <a:rPr lang="ru" sz="1400"/>
              <a:t>- </a:t>
            </a:r>
            <a:r>
              <a:rPr lang="ru" sz="1400">
                <a:solidFill>
                  <a:schemeClr val="accent4"/>
                </a:solidFill>
              </a:rPr>
              <a:t>UFUNCTION</a:t>
            </a:r>
            <a:r>
              <a:rPr lang="ru" sz="1400"/>
              <a:t>(meta = (</a:t>
            </a:r>
            <a:r>
              <a:rPr lang="ru" sz="1400">
                <a:solidFill>
                  <a:schemeClr val="accent4"/>
                </a:solidFill>
              </a:rPr>
              <a:t>DefaultToSelf</a:t>
            </a:r>
            <a:r>
              <a:rPr lang="ru" sz="1400"/>
              <a:t>, </a:t>
            </a:r>
            <a:r>
              <a:rPr lang="ru" sz="1400">
                <a:solidFill>
                  <a:schemeClr val="accent4"/>
                </a:solidFill>
              </a:rPr>
              <a:t>HideSelfPin </a:t>
            </a:r>
            <a:r>
              <a:rPr lang="ru" sz="1400"/>
              <a:t>= </a:t>
            </a:r>
            <a:r>
              <a:rPr lang="ru" sz="1400">
                <a:solidFill>
                  <a:srgbClr val="FF0000"/>
                </a:solidFill>
              </a:rPr>
              <a:t>"true"</a:t>
            </a:r>
            <a:r>
              <a:rPr lang="ru" sz="1400"/>
              <a:t>));</a:t>
            </a:r>
            <a:br>
              <a:rPr lang="ru" sz="1400"/>
            </a:br>
            <a:r>
              <a:rPr lang="ru" sz="1400"/>
              <a:t>- </a:t>
            </a:r>
            <a:r>
              <a:rPr lang="ru" sz="1400">
                <a:solidFill>
                  <a:schemeClr val="accent4"/>
                </a:solidFill>
              </a:rPr>
              <a:t>UENUM</a:t>
            </a:r>
            <a:r>
              <a:rPr lang="ru" sz="1400"/>
              <a:t>(meta = (</a:t>
            </a:r>
            <a:r>
              <a:rPr lang="ru" sz="1400">
                <a:solidFill>
                  <a:schemeClr val="accent4"/>
                </a:solidFill>
              </a:rPr>
              <a:t>Bitflags</a:t>
            </a:r>
            <a:r>
              <a:rPr lang="ru" sz="1400"/>
              <a:t>, </a:t>
            </a:r>
            <a:r>
              <a:rPr lang="ru" sz="1400">
                <a:solidFill>
                  <a:schemeClr val="accent4"/>
                </a:solidFill>
              </a:rPr>
              <a:t>UseEnumValuesAsMaskValuesInEditor </a:t>
            </a:r>
            <a:r>
              <a:rPr lang="ru" sz="1400"/>
              <a:t>= </a:t>
            </a:r>
            <a:r>
              <a:rPr lang="ru" sz="1400">
                <a:solidFill>
                  <a:srgbClr val="FF0000"/>
                </a:solidFill>
              </a:rPr>
              <a:t>"true"</a:t>
            </a:r>
            <a:r>
              <a:rPr lang="ru" sz="1400"/>
              <a:t>));</a:t>
            </a:r>
            <a:br>
              <a:rPr lang="ru" sz="1400"/>
            </a:br>
            <a:endParaRPr sz="1400"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 sz="1400"/>
              <a:t>Интерфейсы: Для использования методов интерфейса, отмеченных спецификаторами “</a:t>
            </a:r>
            <a:r>
              <a:rPr lang="ru" sz="1400">
                <a:solidFill>
                  <a:schemeClr val="accent4"/>
                </a:solidFill>
              </a:rPr>
              <a:t>BlueprintImplementableEvent</a:t>
            </a:r>
            <a:r>
              <a:rPr lang="ru" sz="1400"/>
              <a:t>” или “</a:t>
            </a:r>
            <a:r>
              <a:rPr lang="ru" sz="1400">
                <a:solidFill>
                  <a:schemeClr val="accent4"/>
                </a:solidFill>
              </a:rPr>
              <a:t>BlueprintNativeEvent</a:t>
            </a:r>
            <a:r>
              <a:rPr lang="ru" sz="1400"/>
              <a:t>”, следует использовать их альтернативно сгенерированный метод с приставкой </a:t>
            </a:r>
            <a:r>
              <a:rPr lang="ru" sz="1400">
                <a:solidFill>
                  <a:srgbClr val="FF0000"/>
                </a:solidFill>
              </a:rPr>
              <a:t>"Execute_"</a:t>
            </a:r>
            <a:r>
              <a:rPr lang="ru" sz="1400"/>
              <a:t> с предварительной проверкой реализации данного интерфейса;</a:t>
            </a:r>
            <a:br>
              <a:rPr lang="ru" sz="1400"/>
            </a:br>
            <a:endParaRPr sz="1400"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 sz="1400"/>
              <a:t>Подбор и использование сторонних ассетов: Совместимость скелетов, Использование костей в анимации, Поиск подходящих эффектов (звуков, VFX) и т.д.</a:t>
            </a: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Достигнутый</a:t>
            </a:r>
            <a:r>
              <a:rPr lang="ru"/>
              <a:t> результат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Был собран рабочий прототип RTS с использованием механик улучшения и оптимизации: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ru"/>
              <a:t>“</a:t>
            </a:r>
            <a:r>
              <a:rPr lang="ru">
                <a:solidFill>
                  <a:srgbClr val="00C800"/>
                </a:solidFill>
              </a:rPr>
              <a:t>Detour Crowd AIController</a:t>
            </a:r>
            <a:r>
              <a:rPr lang="ru"/>
              <a:t>” для улучшения передвижения толпы;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ru"/>
              <a:t>“</a:t>
            </a:r>
            <a:r>
              <a:rPr lang="ru">
                <a:solidFill>
                  <a:srgbClr val="00C800"/>
                </a:solidFill>
              </a:rPr>
              <a:t>Animation Budget Allocator</a:t>
            </a:r>
            <a:r>
              <a:rPr lang="ru"/>
              <a:t>” для оптимизации анимаций толпы;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ru"/>
              <a:t>Генерация </a:t>
            </a:r>
            <a:r>
              <a:rPr lang="ru">
                <a:solidFill>
                  <a:srgbClr val="00C800"/>
                </a:solidFill>
              </a:rPr>
              <a:t>LOD</a:t>
            </a:r>
            <a:r>
              <a:rPr lang="ru"/>
              <a:t> для оптимизации ресурсов отображения;</a:t>
            </a:r>
            <a:br>
              <a:rPr lang="ru"/>
            </a:b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Расширены знания возможностей UE: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ru"/>
              <a:t>Методы и нюансы </a:t>
            </a:r>
            <a:r>
              <a:rPr lang="ru"/>
              <a:t>класса </a:t>
            </a:r>
            <a:r>
              <a:rPr lang="ru">
                <a:solidFill>
                  <a:srgbClr val="00C800"/>
                </a:solidFill>
              </a:rPr>
              <a:t>HUD</a:t>
            </a:r>
            <a:r>
              <a:rPr lang="ru"/>
              <a:t>;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ru"/>
              <a:t>Возможности </a:t>
            </a:r>
            <a:r>
              <a:rPr lang="ru"/>
              <a:t>плагина “</a:t>
            </a:r>
            <a:r>
              <a:rPr lang="ru">
                <a:solidFill>
                  <a:srgbClr val="00C800"/>
                </a:solidFill>
              </a:rPr>
              <a:t>Editor Scripting Utilities</a:t>
            </a:r>
            <a:r>
              <a:rPr lang="ru"/>
              <a:t>”;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ru"/>
              <a:t>Интерфейсы и их особенности использования;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ru"/>
              <a:t>Изучены возможности использования спецификаторов свойств;</a:t>
            </a:r>
            <a:endParaRPr/>
          </a:p>
        </p:txBody>
      </p:sp>
      <p:sp>
        <p:nvSpPr>
          <p:cNvPr id="93" name="Google Shape;93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Были созданы, расширены и использованы утилиты для оптимизации и удобной работы: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Использован плагин “</a:t>
            </a:r>
            <a:r>
              <a:rPr lang="ru">
                <a:solidFill>
                  <a:srgbClr val="00C800"/>
                </a:solidFill>
              </a:rPr>
              <a:t>Editor Scripting Utilities</a:t>
            </a:r>
            <a:r>
              <a:rPr lang="ru"/>
              <a:t>”, через C++ добавлены недоступные в BP возможности плагина;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Создан свой плагин “</a:t>
            </a:r>
            <a:r>
              <a:rPr lang="ru">
                <a:solidFill>
                  <a:srgbClr val="00C800"/>
                </a:solidFill>
              </a:rPr>
              <a:t>Global Utilities</a:t>
            </a:r>
            <a:r>
              <a:rPr lang="ru"/>
              <a:t>” для использования макросов и static-функций в среде C++ и BP;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Созданы утилиты для более удобного использования системы </a:t>
            </a:r>
            <a:r>
              <a:rPr lang="ru">
                <a:solidFill>
                  <a:srgbClr val="00C800"/>
                </a:solidFill>
              </a:rPr>
              <a:t>GAS</a:t>
            </a:r>
            <a:r>
              <a:rPr lang="ru"/>
              <a:t> (регистрация тегов в C++, интерфейсы и библиотека BP-функций).</a:t>
            </a:r>
            <a:endParaRPr/>
          </a:p>
        </p:txBody>
      </p:sp>
      <p:cxnSp>
        <p:nvCxnSpPr>
          <p:cNvPr id="94" name="Google Shape;94;p18"/>
          <p:cNvCxnSpPr/>
          <p:nvPr/>
        </p:nvCxnSpPr>
        <p:spPr>
          <a:xfrm>
            <a:off x="4571999" y="1017723"/>
            <a:ext cx="0" cy="3551100"/>
          </a:xfrm>
          <a:prstGeom prst="straightConnector1">
            <a:avLst/>
          </a:prstGeom>
          <a:noFill/>
          <a:ln cap="flat" cmpd="sng" w="28575">
            <a:solidFill>
              <a:srgbClr val="ADADAD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Самооценка знаний и </a:t>
            </a:r>
            <a:r>
              <a:rPr lang="ru"/>
              <a:t>возможностей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Сложности</a:t>
            </a:r>
            <a:r>
              <a:rPr lang="ru"/>
              <a:t> (по большей части вне компетенции программиста):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ru"/>
              <a:t>Подбор доступных Ассетов для визуализации (“Static” и “Skeletal Mesh”, VFX и т.д.);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ru"/>
              <a:t>Редактирование </a:t>
            </a:r>
            <a:r>
              <a:rPr lang="ru"/>
              <a:t>“Static” и “Skeletal Mesh”;</a:t>
            </a:r>
            <a:br>
              <a:rPr lang="ru"/>
            </a:b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Особенности: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ru"/>
              <a:t>Слишком углублённое написание кода с упором на удобство использования и оптимизацию, что замедляет сам процесс написания кода – связано со знаниями программирования на языках Ассемблера и C++ на базе Микроконтроллеров;</a:t>
            </a:r>
            <a:endParaRPr/>
          </a:p>
        </p:txBody>
      </p:sp>
      <p:sp>
        <p:nvSpPr>
          <p:cNvPr id="101" name="Google Shape;101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Способности: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ru"/>
              <a:t>Базовая модификация звуков: Обрезка, Получение участка звука, Затухание/</a:t>
            </a:r>
            <a:r>
              <a:rPr lang="ru"/>
              <a:t>Нарастание звука</a:t>
            </a:r>
            <a:r>
              <a:rPr lang="ru"/>
              <a:t>;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ru"/>
              <a:t>Создание параметров в Материалах и VFX (“</a:t>
            </a:r>
            <a:r>
              <a:rPr lang="ru"/>
              <a:t>Particle</a:t>
            </a:r>
            <a:r>
              <a:rPr lang="ru"/>
              <a:t>” и “Niagara </a:t>
            </a:r>
            <a:r>
              <a:rPr lang="ru"/>
              <a:t>System</a:t>
            </a:r>
            <a:r>
              <a:rPr lang="ru"/>
              <a:t>”) для удобного их редактирования посредством кода;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ru"/>
              <a:t>Создание Утилит, облегчающие работу как в C++ (макросы, static-функции, плагины), так и в BP (использование спецификаторов свойств, отслеживание изменений параметров, BP-библиотеки функций и макросов);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ru"/>
              <a:t>Чтение, модификация и обход кода родительских классов самого UE в пределах проекта.</a:t>
            </a:r>
            <a:endParaRPr/>
          </a:p>
        </p:txBody>
      </p:sp>
      <p:cxnSp>
        <p:nvCxnSpPr>
          <p:cNvPr id="102" name="Google Shape;102;p19"/>
          <p:cNvCxnSpPr/>
          <p:nvPr/>
        </p:nvCxnSpPr>
        <p:spPr>
          <a:xfrm>
            <a:off x="4571999" y="1017723"/>
            <a:ext cx="0" cy="3551100"/>
          </a:xfrm>
          <a:prstGeom prst="straightConnector1">
            <a:avLst/>
          </a:prstGeom>
          <a:noFill/>
          <a:ln cap="flat" cmpd="sng" w="28575">
            <a:solidFill>
              <a:srgbClr val="ADADAD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Доступ к проекту</a:t>
            </a:r>
            <a:endParaRPr/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311700" y="1152475"/>
            <a:ext cx="8520600" cy="12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Репозитории: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ru"/>
              <a:t>GitHub: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ru"/>
              <a:t>GitLab: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ru"/>
              <a:t>GitVerse:</a:t>
            </a:r>
            <a:endParaRPr/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3626725"/>
            <a:ext cx="8520600" cy="12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Проект выполнил:</a:t>
            </a:r>
            <a:br>
              <a:rPr lang="ru"/>
            </a:br>
            <a:r>
              <a:rPr lang="ru"/>
              <a:t>Осипов А.С.</a:t>
            </a:r>
            <a:br>
              <a:rPr lang="ru"/>
            </a:br>
            <a:r>
              <a:rPr lang="ru" u="sng">
                <a:solidFill>
                  <a:schemeClr val="hlink"/>
                </a:solidFill>
                <a:hlinkClick r:id="rId3"/>
              </a:rPr>
              <a:t>alikxyzet@gmail.com</a:t>
            </a:r>
            <a:r>
              <a:rPr lang="ru"/>
              <a:t> </a:t>
            </a:r>
            <a:endParaRPr/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2275500" y="1152475"/>
            <a:ext cx="6556800" cy="12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 </a:t>
            </a:r>
            <a:br>
              <a:rPr lang="ru"/>
            </a:br>
            <a:r>
              <a:rPr lang="ru" u="sng">
                <a:solidFill>
                  <a:schemeClr val="hlink"/>
                </a:solidFill>
                <a:hlinkClick r:id="rId4"/>
              </a:rPr>
              <a:t>https://github.com/AlikXYZet/FP_RTS</a:t>
            </a:r>
            <a:r>
              <a:rPr lang="ru"/>
              <a:t> </a:t>
            </a:r>
            <a:r>
              <a:rPr lang="ru"/>
              <a:t> </a:t>
            </a:r>
            <a:br>
              <a:rPr lang="ru"/>
            </a:br>
            <a:r>
              <a:rPr lang="ru" u="sng">
                <a:solidFill>
                  <a:schemeClr val="hlink"/>
                </a:solidFill>
                <a:hlinkClick r:id="rId5"/>
              </a:rPr>
              <a:t>https://gitlab.com/alikxyzet/FP_RTS</a:t>
            </a:r>
            <a:r>
              <a:rPr lang="ru"/>
              <a:t> </a:t>
            </a:r>
            <a:br>
              <a:rPr lang="ru"/>
            </a:br>
            <a:r>
              <a:rPr lang="ru" u="sng">
                <a:solidFill>
                  <a:schemeClr val="hlink"/>
                </a:solidFill>
                <a:hlinkClick r:id="rId6"/>
              </a:rPr>
              <a:t>https://gitverse.ru/Alik_XYZet/FP_RTS</a:t>
            </a:r>
            <a:r>
              <a:rPr lang="ru"/>
              <a:t> </a:t>
            </a:r>
            <a:endParaRPr/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2404025"/>
            <a:ext cx="8520600" cy="122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Файлы Сборки проекта, Презентации и Видео: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ru"/>
              <a:t>Яндекс Диск: </a:t>
            </a:r>
            <a:r>
              <a:rPr lang="ru" u="sng">
                <a:solidFill>
                  <a:schemeClr val="hlink"/>
                </a:solidFill>
                <a:hlinkClick r:id="rId7"/>
              </a:rPr>
              <a:t>https://disk.yandex.by/d/-fm75T3rE73cJA</a:t>
            </a:r>
            <a:r>
              <a:rPr lang="ru"/>
              <a:t> 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ru"/>
              <a:t>Google Диск: </a:t>
            </a:r>
            <a:r>
              <a:rPr lang="ru" u="sng">
                <a:solidFill>
                  <a:schemeClr val="hlink"/>
                </a:solidFill>
                <a:hlinkClick r:id="rId8"/>
              </a:rPr>
              <a:t>https://drive.google.com/drive/folders/1iKprTmhUcY5xjn1mxJckriaoNsjlwfky</a:t>
            </a:r>
            <a:r>
              <a:rPr lang="ru"/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